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5" r:id="rId1"/>
  </p:sldMasterIdLst>
  <p:sldIdLst>
    <p:sldId id="256" r:id="rId2"/>
    <p:sldId id="258" r:id="rId3"/>
    <p:sldId id="259" r:id="rId4"/>
    <p:sldId id="261" r:id="rId5"/>
    <p:sldId id="262" r:id="rId6"/>
    <p:sldId id="263"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60"/>
  </p:normalViewPr>
  <p:slideViewPr>
    <p:cSldViewPr>
      <p:cViewPr varScale="1">
        <p:scale>
          <a:sx n="87" d="100"/>
          <a:sy n="87" d="100"/>
        </p:scale>
        <p:origin x="1445"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ownloads\APPU%20Ratio%20Calcula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ownloads\APPU%20Ratio%20Calcula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ownloads\APPU%20Ratio%20Calculatio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dmin\Downloads\APPU%20Ratio%20Calculatio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dmin\Downloads\APPU%20Ratio%20Calculation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manualLayout>
          <c:layoutTarget val="inner"/>
          <c:xMode val="edge"/>
          <c:yMode val="edge"/>
          <c:x val="4.0557642091153409E-2"/>
          <c:y val="0.26207191489408427"/>
          <c:w val="0.89044321384894232"/>
          <c:h val="0.58550296258401202"/>
        </c:manualLayout>
      </c:layout>
      <c:lineChart>
        <c:grouping val="standard"/>
        <c:varyColors val="0"/>
        <c:ser>
          <c:idx val="0"/>
          <c:order val="0"/>
          <c:tx>
            <c:strRef>
              <c:f>Sheet2!$D$2</c:f>
              <c:strCache>
                <c:ptCount val="1"/>
                <c:pt idx="0">
                  <c:v>Current Ratio</c:v>
                </c:pt>
              </c:strCache>
            </c:strRef>
          </c:tx>
          <c:spPr>
            <a:ln w="34925" cap="rnd">
              <a:solidFill>
                <a:schemeClr val="lt1"/>
              </a:solidFill>
              <a:round/>
            </a:ln>
            <a:effectLst>
              <a:outerShdw dist="25400" dir="2700000" algn="tl" rotWithShape="0">
                <a:schemeClr val="accent1"/>
              </a:outerShdw>
            </a:effectLst>
          </c:spPr>
          <c:marker>
            <c:symbol val="none"/>
          </c:marker>
          <c:dLbls>
            <c:dLbl>
              <c:idx val="0"/>
              <c:layout>
                <c:manualLayout>
                  <c:x val="-0.11940741108484534"/>
                  <c:y val="-6.274903351116807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2E15-4768-921B-C2073D2E1B2A}"/>
                </c:ext>
              </c:extLst>
            </c:dLbl>
            <c:dLbl>
              <c:idx val="1"/>
              <c:layout>
                <c:manualLayout>
                  <c:x val="-0.10814854084598446"/>
                  <c:y val="-8.366537801489068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2E15-4768-921B-C2073D2E1B2A}"/>
                </c:ext>
              </c:extLst>
            </c:dLbl>
            <c:dLbl>
              <c:idx val="2"/>
              <c:layout>
                <c:manualLayout>
                  <c:x val="-0.11377797596541488"/>
                  <c:y val="-9.063749284946497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2E15-4768-921B-C2073D2E1B2A}"/>
                </c:ext>
              </c:extLst>
            </c:dLbl>
            <c:dLbl>
              <c:idx val="3"/>
              <c:layout>
                <c:manualLayout>
                  <c:x val="-0.1250368462042758"/>
                  <c:y val="-9.063749284946497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2E15-4768-921B-C2073D2E1B2A}"/>
                </c:ext>
              </c:extLst>
            </c:dLbl>
            <c:dLbl>
              <c:idx val="4"/>
              <c:layout>
                <c:manualLayout>
                  <c:x val="-3.3684412094154299E-2"/>
                  <c:y val="-6.9721148345742237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2E15-4768-921B-C2073D2E1B2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Sheet2!$A$3:$A$7</c:f>
              <c:strCache>
                <c:ptCount val="5"/>
                <c:pt idx="0">
                  <c:v>2020-21</c:v>
                </c:pt>
                <c:pt idx="1">
                  <c:v>2021-22</c:v>
                </c:pt>
                <c:pt idx="2">
                  <c:v>2022-23</c:v>
                </c:pt>
                <c:pt idx="3">
                  <c:v>2023-24</c:v>
                </c:pt>
                <c:pt idx="4">
                  <c:v>2024-25</c:v>
                </c:pt>
              </c:strCache>
            </c:strRef>
          </c:cat>
          <c:val>
            <c:numRef>
              <c:f>Sheet2!$D$3:$D$7</c:f>
              <c:numCache>
                <c:formatCode>General</c:formatCode>
                <c:ptCount val="5"/>
                <c:pt idx="0">
                  <c:v>2.7161271319319491</c:v>
                </c:pt>
                <c:pt idx="1">
                  <c:v>2.0077870292190787</c:v>
                </c:pt>
                <c:pt idx="2">
                  <c:v>2.5569051428351135</c:v>
                </c:pt>
                <c:pt idx="3">
                  <c:v>3.3933647128713456</c:v>
                </c:pt>
                <c:pt idx="4">
                  <c:v>3.1264102338130715</c:v>
                </c:pt>
              </c:numCache>
            </c:numRef>
          </c:val>
          <c:smooth val="0"/>
          <c:extLst>
            <c:ext xmlns:c16="http://schemas.microsoft.com/office/drawing/2014/chart" uri="{C3380CC4-5D6E-409C-BE32-E72D297353CC}">
              <c16:uniqueId val="{00000000-2E15-4768-921B-C2073D2E1B2A}"/>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189503135"/>
        <c:axId val="1189502175"/>
      </c:lineChart>
      <c:catAx>
        <c:axId val="1189503135"/>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189502175"/>
        <c:crosses val="autoZero"/>
        <c:auto val="1"/>
        <c:lblAlgn val="ctr"/>
        <c:lblOffset val="100"/>
        <c:noMultiLvlLbl val="0"/>
      </c:catAx>
      <c:valAx>
        <c:axId val="11895021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1895031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0737637574319701"/>
          <c:y val="4.0700605915582028E-2"/>
        </c:manualLayout>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lineChart>
        <c:grouping val="standard"/>
        <c:varyColors val="0"/>
        <c:ser>
          <c:idx val="0"/>
          <c:order val="0"/>
          <c:tx>
            <c:strRef>
              <c:f>Sheet2!$D$66</c:f>
              <c:strCache>
                <c:ptCount val="1"/>
                <c:pt idx="0">
                  <c:v>Net Profit Ratio [%]</c:v>
                </c:pt>
              </c:strCache>
            </c:strRef>
          </c:tx>
          <c:spPr>
            <a:ln w="34925" cap="rnd">
              <a:solidFill>
                <a:schemeClr val="lt1"/>
              </a:solidFill>
              <a:round/>
            </a:ln>
            <a:effectLst>
              <a:outerShdw dist="25400" dir="2700000" algn="tl" rotWithShape="0">
                <a:schemeClr val="accent1"/>
              </a:outerShdw>
            </a:effectLst>
          </c:spPr>
          <c:marker>
            <c:symbol val="none"/>
          </c:marker>
          <c:dLbls>
            <c:dLbl>
              <c:idx val="0"/>
              <c:layout>
                <c:manualLayout>
                  <c:x val="2.8446660048524813E-3"/>
                  <c:y val="-6.783434319263674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CD73-4384-B20B-EA1921CD61DB}"/>
                </c:ext>
              </c:extLst>
            </c:dLbl>
            <c:dLbl>
              <c:idx val="1"/>
              <c:layout>
                <c:manualLayout>
                  <c:x val="-1.422333002426259E-2"/>
                  <c:y val="9.496808046969133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CD73-4384-B20B-EA1921CD61DB}"/>
                </c:ext>
              </c:extLst>
            </c:dLbl>
            <c:dLbl>
              <c:idx val="2"/>
              <c:layout>
                <c:manualLayout>
                  <c:x val="0"/>
                  <c:y val="-5.4267474554109373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CD73-4384-B20B-EA1921CD61DB}"/>
                </c:ext>
              </c:extLst>
            </c:dLbl>
            <c:dLbl>
              <c:idx val="3"/>
              <c:layout>
                <c:manualLayout>
                  <c:x val="-1.9912662033967552E-2"/>
                  <c:y val="7.4617777511900393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CD73-4384-B20B-EA1921CD61DB}"/>
                </c:ext>
              </c:extLst>
            </c:dLbl>
            <c:dLbl>
              <c:idx val="4"/>
              <c:layout>
                <c:manualLayout>
                  <c:x val="-1.4223330024262642E-2"/>
                  <c:y val="-5.4267474554109373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CD73-4384-B20B-EA1921CD61DB}"/>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Sheet2!$A$67:$A$71</c:f>
              <c:strCache>
                <c:ptCount val="5"/>
                <c:pt idx="0">
                  <c:v>2020-21</c:v>
                </c:pt>
                <c:pt idx="1">
                  <c:v>2021-22</c:v>
                </c:pt>
                <c:pt idx="2">
                  <c:v>2022-23</c:v>
                </c:pt>
                <c:pt idx="3">
                  <c:v>2023-24</c:v>
                </c:pt>
                <c:pt idx="4">
                  <c:v>2024-25</c:v>
                </c:pt>
              </c:strCache>
            </c:strRef>
          </c:cat>
          <c:val>
            <c:numRef>
              <c:f>Sheet2!$D$67:$D$71</c:f>
              <c:numCache>
                <c:formatCode>General</c:formatCode>
                <c:ptCount val="5"/>
                <c:pt idx="0">
                  <c:v>19.966047207723587</c:v>
                </c:pt>
                <c:pt idx="1">
                  <c:v>16.716205064608772</c:v>
                </c:pt>
                <c:pt idx="2">
                  <c:v>15.001788396653328</c:v>
                </c:pt>
                <c:pt idx="3">
                  <c:v>15.903833851444151</c:v>
                </c:pt>
                <c:pt idx="4">
                  <c:v>16.529794315571909</c:v>
                </c:pt>
              </c:numCache>
            </c:numRef>
          </c:val>
          <c:smooth val="0"/>
          <c:extLst>
            <c:ext xmlns:c16="http://schemas.microsoft.com/office/drawing/2014/chart" uri="{C3380CC4-5D6E-409C-BE32-E72D297353CC}">
              <c16:uniqueId val="{00000000-CD73-4384-B20B-EA1921CD61DB}"/>
            </c:ext>
          </c:extLst>
        </c:ser>
        <c:dLbls>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001886703"/>
        <c:axId val="1001886223"/>
      </c:lineChart>
      <c:catAx>
        <c:axId val="1001886703"/>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001886223"/>
        <c:crosses val="autoZero"/>
        <c:auto val="1"/>
        <c:lblAlgn val="ctr"/>
        <c:lblOffset val="100"/>
        <c:noMultiLvlLbl val="0"/>
      </c:catAx>
      <c:valAx>
        <c:axId val="100188622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001886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manualLayout>
          <c:layoutTarget val="inner"/>
          <c:xMode val="edge"/>
          <c:yMode val="edge"/>
          <c:x val="9.9740306632596365E-2"/>
          <c:y val="0.23635766660847207"/>
          <c:w val="0.86522446481210036"/>
          <c:h val="0.61581062217061744"/>
        </c:manualLayout>
      </c:layout>
      <c:lineChart>
        <c:grouping val="standard"/>
        <c:varyColors val="0"/>
        <c:ser>
          <c:idx val="0"/>
          <c:order val="0"/>
          <c:tx>
            <c:strRef>
              <c:f>Sheet2!$D$118</c:f>
              <c:strCache>
                <c:ptCount val="1"/>
                <c:pt idx="0">
                  <c:v>EPS</c:v>
                </c:pt>
              </c:strCache>
            </c:strRef>
          </c:tx>
          <c:spPr>
            <a:ln w="34925" cap="rnd">
              <a:solidFill>
                <a:schemeClr val="lt1"/>
              </a:solidFill>
              <a:round/>
            </a:ln>
            <a:effectLst>
              <a:outerShdw dist="25400" dir="2700000" algn="tl" rotWithShape="0">
                <a:schemeClr val="accent1"/>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accent1">
                          <a:lumMod val="60000"/>
                          <a:lumOff val="40000"/>
                        </a:schemeClr>
                      </a:solidFill>
                    </a:ln>
                    <a:effectLst/>
                  </c:spPr>
                </c15:leaderLines>
              </c:ext>
            </c:extLst>
          </c:dLbls>
          <c:cat>
            <c:strRef>
              <c:f>Sheet2!$A$119:$A$123</c:f>
              <c:strCache>
                <c:ptCount val="5"/>
                <c:pt idx="0">
                  <c:v>2020-21</c:v>
                </c:pt>
                <c:pt idx="1">
                  <c:v>2021-22</c:v>
                </c:pt>
                <c:pt idx="2">
                  <c:v>2022-23</c:v>
                </c:pt>
                <c:pt idx="3">
                  <c:v>2023-24</c:v>
                </c:pt>
                <c:pt idx="4">
                  <c:v>2024-25</c:v>
                </c:pt>
              </c:strCache>
            </c:strRef>
          </c:cat>
          <c:val>
            <c:numRef>
              <c:f>Sheet2!$D$119:$D$123</c:f>
              <c:numCache>
                <c:formatCode>General</c:formatCode>
                <c:ptCount val="5"/>
                <c:pt idx="0">
                  <c:v>186.67821116341631</c:v>
                </c:pt>
                <c:pt idx="1">
                  <c:v>187.35825875929015</c:v>
                </c:pt>
                <c:pt idx="2">
                  <c:v>188.16409369177535</c:v>
                </c:pt>
                <c:pt idx="3">
                  <c:v>188.66679712981082</c:v>
                </c:pt>
                <c:pt idx="4">
                  <c:v>189.38272367770637</c:v>
                </c:pt>
              </c:numCache>
            </c:numRef>
          </c:val>
          <c:smooth val="0"/>
          <c:extLst>
            <c:ext xmlns:c16="http://schemas.microsoft.com/office/drawing/2014/chart" uri="{C3380CC4-5D6E-409C-BE32-E72D297353CC}">
              <c16:uniqueId val="{00000000-CDE0-4E23-B386-F2BAD37DD889}"/>
            </c:ext>
          </c:extLst>
        </c:ser>
        <c:dLbls>
          <c:dLblPos val="t"/>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328921568"/>
        <c:axId val="328910336"/>
      </c:lineChart>
      <c:catAx>
        <c:axId val="328921568"/>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328910336"/>
        <c:crosses val="autoZero"/>
        <c:auto val="1"/>
        <c:lblAlgn val="ctr"/>
        <c:lblOffset val="100"/>
        <c:noMultiLvlLbl val="0"/>
      </c:catAx>
      <c:valAx>
        <c:axId val="3289103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328921568"/>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dirty="0" smtClean="0"/>
              <a:t>Debt</a:t>
            </a:r>
            <a:r>
              <a:rPr lang="en-US" baseline="0" dirty="0" smtClean="0"/>
              <a:t>-equity</a:t>
            </a:r>
            <a:r>
              <a:rPr lang="en-US" dirty="0" smtClean="0"/>
              <a:t> </a:t>
            </a:r>
            <a:r>
              <a:rPr lang="en-US" dirty="0"/>
              <a:t>Ratio</a:t>
            </a:r>
          </a:p>
        </c:rich>
      </c:tx>
      <c:layout>
        <c:manualLayout>
          <c:xMode val="edge"/>
          <c:yMode val="edge"/>
          <c:x val="0.23980690513554048"/>
          <c:y val="0"/>
        </c:manualLayout>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manualLayout>
          <c:layoutTarget val="inner"/>
          <c:xMode val="edge"/>
          <c:yMode val="edge"/>
          <c:x val="0.1069748760554383"/>
          <c:y val="0.28680911425862443"/>
          <c:w val="0.86271165183035214"/>
          <c:h val="0.53287273047412687"/>
        </c:manualLayout>
      </c:layout>
      <c:lineChart>
        <c:grouping val="standard"/>
        <c:varyColors val="0"/>
        <c:ser>
          <c:idx val="0"/>
          <c:order val="0"/>
          <c:tx>
            <c:strRef>
              <c:f>Sheet2!$D$17</c:f>
              <c:strCache>
                <c:ptCount val="1"/>
                <c:pt idx="0">
                  <c:v>D/E Ratio</c:v>
                </c:pt>
              </c:strCache>
            </c:strRef>
          </c:tx>
          <c:spPr>
            <a:ln w="34925" cap="rnd">
              <a:solidFill>
                <a:schemeClr val="lt1"/>
              </a:solidFill>
              <a:round/>
            </a:ln>
            <a:effectLst>
              <a:outerShdw dist="25400" dir="2700000" algn="tl" rotWithShape="0">
                <a:schemeClr val="accent1"/>
              </a:outerShdw>
            </a:effectLst>
          </c:spPr>
          <c:marker>
            <c:symbol val="none"/>
          </c:marker>
          <c:dLbls>
            <c:dLbl>
              <c:idx val="0"/>
              <c:layout>
                <c:manualLayout>
                  <c:x val="-4.9603863459615621E-2"/>
                  <c:y val="-0.11306515886742941"/>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BE13-45FE-A531-ED81636C3F50}"/>
                </c:ext>
              </c:extLst>
            </c:dLbl>
            <c:dLbl>
              <c:idx val="1"/>
              <c:layout>
                <c:manualLayout>
                  <c:x val="-1.9290391345406117E-2"/>
                  <c:y val="-8.165817029314342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BE13-45FE-A531-ED81636C3F50}"/>
                </c:ext>
              </c:extLst>
            </c:dLbl>
            <c:dLbl>
              <c:idx val="2"/>
              <c:layout>
                <c:manualLayout>
                  <c:x val="-2.2046161537606933E-2"/>
                  <c:y val="-6.2813977148571926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BE13-45FE-A531-ED81636C3F50}"/>
                </c:ext>
              </c:extLst>
            </c:dLbl>
            <c:dLbl>
              <c:idx val="3"/>
              <c:layout>
                <c:manualLayout>
                  <c:x val="-2.2046161537607033E-2"/>
                  <c:y val="-6.2813977148571926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BE13-45FE-A531-ED81636C3F50}"/>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accent1">
                          <a:lumMod val="60000"/>
                          <a:lumOff val="40000"/>
                        </a:schemeClr>
                      </a:solidFill>
                    </a:ln>
                    <a:effectLst/>
                  </c:spPr>
                </c15:leaderLines>
              </c:ext>
            </c:extLst>
          </c:dLbls>
          <c:cat>
            <c:strRef>
              <c:f>Sheet2!$A$18:$A$22</c:f>
              <c:strCache>
                <c:ptCount val="5"/>
                <c:pt idx="0">
                  <c:v>2020-21</c:v>
                </c:pt>
                <c:pt idx="1">
                  <c:v>2021-22</c:v>
                </c:pt>
                <c:pt idx="2">
                  <c:v>2022-23</c:v>
                </c:pt>
                <c:pt idx="3">
                  <c:v>2023-24</c:v>
                </c:pt>
                <c:pt idx="4">
                  <c:v>2024-25</c:v>
                </c:pt>
              </c:strCache>
            </c:strRef>
          </c:cat>
          <c:val>
            <c:numRef>
              <c:f>Sheet2!$D$18:$D$22</c:f>
              <c:numCache>
                <c:formatCode>General</c:formatCode>
                <c:ptCount val="5"/>
                <c:pt idx="0">
                  <c:v>0.16303770307787899</c:v>
                </c:pt>
                <c:pt idx="1">
                  <c:v>0.18791942083585245</c:v>
                </c:pt>
                <c:pt idx="2">
                  <c:v>0.14235242066997078</c:v>
                </c:pt>
                <c:pt idx="3">
                  <c:v>0.11400152701217414</c:v>
                </c:pt>
                <c:pt idx="4">
                  <c:v>9.5316928788220831E-2</c:v>
                </c:pt>
              </c:numCache>
            </c:numRef>
          </c:val>
          <c:smooth val="0"/>
          <c:extLst>
            <c:ext xmlns:c16="http://schemas.microsoft.com/office/drawing/2014/chart" uri="{C3380CC4-5D6E-409C-BE32-E72D297353CC}">
              <c16:uniqueId val="{00000004-BE13-45FE-A531-ED81636C3F50}"/>
            </c:ext>
          </c:extLst>
        </c:ser>
        <c:dLbls>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062896047"/>
        <c:axId val="1062897007"/>
      </c:lineChart>
      <c:catAx>
        <c:axId val="1062896047"/>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062897007"/>
        <c:crosses val="autoZero"/>
        <c:auto val="1"/>
        <c:lblAlgn val="ctr"/>
        <c:lblOffset val="100"/>
        <c:noMultiLvlLbl val="0"/>
      </c:catAx>
      <c:valAx>
        <c:axId val="106289700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0628960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manualLayout>
          <c:layoutTarget val="inner"/>
          <c:xMode val="edge"/>
          <c:yMode val="edge"/>
          <c:x val="8.5372913172183693E-2"/>
          <c:y val="0.16449692937343721"/>
          <c:w val="0.88389129483814521"/>
          <c:h val="0.66764384670047139"/>
        </c:manualLayout>
      </c:layout>
      <c:lineChart>
        <c:grouping val="standard"/>
        <c:varyColors val="0"/>
        <c:ser>
          <c:idx val="0"/>
          <c:order val="0"/>
          <c:tx>
            <c:strRef>
              <c:f>Sheet2!$D$34</c:f>
              <c:strCache>
                <c:ptCount val="1"/>
                <c:pt idx="0">
                  <c:v>Proprietary Ratio</c:v>
                </c:pt>
              </c:strCache>
            </c:strRef>
          </c:tx>
          <c:spPr>
            <a:ln w="34925" cap="rnd">
              <a:solidFill>
                <a:schemeClr val="lt1"/>
              </a:solidFill>
              <a:round/>
            </a:ln>
            <a:effectLst>
              <a:outerShdw dist="25400" dir="2700000" algn="tl" rotWithShape="0">
                <a:schemeClr val="accent1"/>
              </a:outerShdw>
            </a:effectLst>
          </c:spPr>
          <c:marker>
            <c:symbol val="none"/>
          </c:marker>
          <c:dLbls>
            <c:dLbl>
              <c:idx val="3"/>
              <c:layout>
                <c:manualLayout>
                  <c:x val="0"/>
                  <c:y val="-4.938340184423959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BEDA-455F-AA13-1F54F2E1C1D6}"/>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accent1">
                          <a:lumMod val="60000"/>
                          <a:lumOff val="40000"/>
                        </a:schemeClr>
                      </a:solidFill>
                    </a:ln>
                    <a:effectLst/>
                  </c:spPr>
                </c15:leaderLines>
              </c:ext>
            </c:extLst>
          </c:dLbls>
          <c:cat>
            <c:strRef>
              <c:f>Sheet2!$A$35:$A$39</c:f>
              <c:strCache>
                <c:ptCount val="5"/>
                <c:pt idx="0">
                  <c:v>2020-21</c:v>
                </c:pt>
                <c:pt idx="1">
                  <c:v>2021-22</c:v>
                </c:pt>
                <c:pt idx="2">
                  <c:v>2022-23</c:v>
                </c:pt>
                <c:pt idx="3">
                  <c:v>2023-24</c:v>
                </c:pt>
                <c:pt idx="4">
                  <c:v>2024-25</c:v>
                </c:pt>
              </c:strCache>
            </c:strRef>
          </c:cat>
          <c:val>
            <c:numRef>
              <c:f>Sheet2!$D$35:$D$39</c:f>
              <c:numCache>
                <c:formatCode>General</c:formatCode>
                <c:ptCount val="5"/>
                <c:pt idx="0">
                  <c:v>1.3791282042001407</c:v>
                </c:pt>
                <c:pt idx="1">
                  <c:v>1.5555474114313377</c:v>
                </c:pt>
                <c:pt idx="2">
                  <c:v>1.4443158458808441</c:v>
                </c:pt>
                <c:pt idx="3">
                  <c:v>1.33260968058597</c:v>
                </c:pt>
                <c:pt idx="4">
                  <c:v>1.3091992901714657</c:v>
                </c:pt>
              </c:numCache>
            </c:numRef>
          </c:val>
          <c:smooth val="0"/>
          <c:extLst>
            <c:ext xmlns:c16="http://schemas.microsoft.com/office/drawing/2014/chart" uri="{C3380CC4-5D6E-409C-BE32-E72D297353CC}">
              <c16:uniqueId val="{00000000-BEDA-455F-AA13-1F54F2E1C1D6}"/>
            </c:ext>
          </c:extLst>
        </c:ser>
        <c:dLbls>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646551263"/>
        <c:axId val="646551743"/>
      </c:lineChart>
      <c:catAx>
        <c:axId val="646551263"/>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646551743"/>
        <c:crosses val="autoZero"/>
        <c:auto val="1"/>
        <c:lblAlgn val="ctr"/>
        <c:lblOffset val="100"/>
        <c:noMultiLvlLbl val="0"/>
      </c:catAx>
      <c:valAx>
        <c:axId val="64655174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6465512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079A559-0F7F-4642-A607-4D4C9ED8177C}"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3769345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079A559-0F7F-4642-A607-4D4C9ED8177C}"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727463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079A559-0F7F-4642-A607-4D4C9ED8177C}"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331825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611611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079A559-0F7F-4642-A607-4D4C9ED8177C}" type="datetimeFigureOut">
              <a:rPr lang="en-IN" smtClean="0"/>
              <a:t>25-05-2026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3997120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079A559-0F7F-4642-A607-4D4C9ED8177C}" type="datetimeFigureOut">
              <a:rPr lang="en-IN" smtClean="0"/>
              <a:t>25-05-2026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4272857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B079A559-0F7F-4642-A607-4D4C9ED8177C}" type="datetimeFigureOut">
              <a:rPr lang="en-IN" smtClean="0"/>
              <a:t>25-05-2026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1907801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1451231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1331731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1959362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1351825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34381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9A559-0F7F-4642-A607-4D4C9ED8177C}"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3465318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B079A559-0F7F-4642-A607-4D4C9ED8177C}" type="datetimeFigureOut">
              <a:rPr lang="en-IN" smtClean="0"/>
              <a:t>25-05-2026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2705543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B079A559-0F7F-4642-A607-4D4C9ED8177C}" type="datetimeFigureOut">
              <a:rPr lang="en-IN" smtClean="0"/>
              <a:t>25-05-2026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2049041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079A559-0F7F-4642-A607-4D4C9ED8177C}"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2249099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079A559-0F7F-4642-A607-4D4C9ED8177C}"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738983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079A559-0F7F-4642-A607-4D4C9ED8177C}" type="datetimeFigureOut">
              <a:rPr lang="en-IN" smtClean="0"/>
              <a:t>25-05-2026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20060797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079A559-0F7F-4642-A607-4D4C9ED8177C}"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9BFAFB-A8DC-42FD-A3A0-D8F9DDF1B6FB}" type="slidenum">
              <a:rPr lang="en-IN" smtClean="0"/>
              <a:t>‹#›</a:t>
            </a:fld>
            <a:endParaRPr lang="en-IN"/>
          </a:p>
        </p:txBody>
      </p:sp>
    </p:spTree>
    <p:extLst>
      <p:ext uri="{BB962C8B-B14F-4D97-AF65-F5344CB8AC3E}">
        <p14:creationId xmlns:p14="http://schemas.microsoft.com/office/powerpoint/2010/main" val="396976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B079A559-0F7F-4642-A607-4D4C9ED8177C}" type="datetimeFigureOut">
              <a:rPr lang="en-IN" smtClean="0"/>
              <a:t>25-05-2026</a:t>
            </a:fld>
            <a:endParaRPr lang="en-IN"/>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0F9BFAFB-A8DC-42FD-A3A0-D8F9DDF1B6FB}" type="slidenum">
              <a:rPr lang="en-IN" smtClean="0"/>
              <a:t>‹#›</a:t>
            </a:fld>
            <a:endParaRPr lang="en-IN"/>
          </a:p>
        </p:txBody>
      </p:sp>
    </p:spTree>
    <p:extLst>
      <p:ext uri="{BB962C8B-B14F-4D97-AF65-F5344CB8AC3E}">
        <p14:creationId xmlns:p14="http://schemas.microsoft.com/office/powerpoint/2010/main" val="227696904"/>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 id="2147483908" r:id="rId13"/>
    <p:sldLayoutId id="2147483909" r:id="rId14"/>
    <p:sldLayoutId id="2147483910" r:id="rId15"/>
    <p:sldLayoutId id="2147483911" r:id="rId16"/>
    <p:sldLayoutId id="2147483912" r:id="rId17"/>
    <p:sldLayoutId id="2147483913" r:id="rId18"/>
    <p:sldLayoutId id="2147483914" r:id="rId19"/>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844824"/>
            <a:ext cx="7702624" cy="1296144"/>
          </a:xfrm>
        </p:spPr>
        <p:txBody>
          <a:bodyPr>
            <a:noAutofit/>
          </a:bodyPr>
          <a:lstStyle/>
          <a:p>
            <a:r>
              <a:rPr lang="en-US" sz="4400" b="1" dirty="0" smtClean="0">
                <a:latin typeface="+mn-lt"/>
              </a:rPr>
              <a:t>FINANCIAL RATIO ANALYSIS OF MPHASIS COMPANY LTD </a:t>
            </a:r>
            <a:endParaRPr lang="en-IN" sz="4400" b="1" dirty="0">
              <a:latin typeface="+mn-lt"/>
            </a:endParaRPr>
          </a:p>
        </p:txBody>
      </p:sp>
      <p:sp>
        <p:nvSpPr>
          <p:cNvPr id="3" name="Subtitle 2"/>
          <p:cNvSpPr>
            <a:spLocks noGrp="1"/>
          </p:cNvSpPr>
          <p:nvPr>
            <p:ph type="subTitle" idx="1"/>
          </p:nvPr>
        </p:nvSpPr>
        <p:spPr>
          <a:xfrm>
            <a:off x="107504" y="4077072"/>
            <a:ext cx="6400800" cy="1752600"/>
          </a:xfrm>
        </p:spPr>
        <p:txBody>
          <a:bodyPr>
            <a:normAutofit/>
          </a:bodyPr>
          <a:lstStyle/>
          <a:p>
            <a:pPr algn="l">
              <a:lnSpc>
                <a:spcPct val="100000"/>
              </a:lnSpc>
            </a:pPr>
            <a:r>
              <a:rPr lang="en-US" sz="1800" b="1" dirty="0" smtClean="0">
                <a:solidFill>
                  <a:schemeClr val="tx1"/>
                </a:solidFill>
              </a:rPr>
              <a:t>Presented by : Apeksha Dhongadi </a:t>
            </a:r>
          </a:p>
          <a:p>
            <a:pPr algn="l">
              <a:lnSpc>
                <a:spcPct val="100000"/>
              </a:lnSpc>
            </a:pPr>
            <a:r>
              <a:rPr lang="en-US" sz="1800" b="1" dirty="0" smtClean="0">
                <a:solidFill>
                  <a:schemeClr val="tx1"/>
                </a:solidFill>
              </a:rPr>
              <a:t>Topic                : Financial ratio analysis</a:t>
            </a:r>
          </a:p>
          <a:p>
            <a:pPr algn="l">
              <a:lnSpc>
                <a:spcPct val="100000"/>
              </a:lnSpc>
            </a:pPr>
            <a:r>
              <a:rPr lang="en-US" sz="1800" b="1" dirty="0" smtClean="0">
                <a:solidFill>
                  <a:schemeClr val="tx1"/>
                </a:solidFill>
              </a:rPr>
              <a:t>Company        : Mphasis company ltd </a:t>
            </a:r>
            <a:endParaRPr lang="en-IN" sz="1800" b="1" dirty="0">
              <a:solidFill>
                <a:schemeClr val="tx1"/>
              </a:solidFill>
            </a:endParaRPr>
          </a:p>
        </p:txBody>
      </p:sp>
      <p:pic>
        <p:nvPicPr>
          <p:cNvPr id="4" name="Picture 3" descr="Welcome to Karnatak University, Dharwad"/>
          <p:cNvPicPr/>
          <p:nvPr/>
        </p:nvPicPr>
        <p:blipFill>
          <a:blip r:embed="rId2">
            <a:extLst>
              <a:ext uri="{28A0092B-C50C-407E-A947-70E740481C1C}">
                <a14:useLocalDpi xmlns:a14="http://schemas.microsoft.com/office/drawing/2010/main" val="0"/>
              </a:ext>
            </a:extLst>
          </a:blip>
          <a:srcRect/>
          <a:stretch>
            <a:fillRect/>
          </a:stretch>
        </p:blipFill>
        <p:spPr bwMode="auto">
          <a:xfrm>
            <a:off x="395536" y="332656"/>
            <a:ext cx="8280920" cy="1080770"/>
          </a:xfrm>
          <a:prstGeom prst="rect">
            <a:avLst/>
          </a:prstGeom>
          <a:noFill/>
          <a:ln>
            <a:noFill/>
          </a:ln>
        </p:spPr>
      </p:pic>
    </p:spTree>
    <p:extLst>
      <p:ext uri="{BB962C8B-B14F-4D97-AF65-F5344CB8AC3E}">
        <p14:creationId xmlns:p14="http://schemas.microsoft.com/office/powerpoint/2010/main" val="199628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latin typeface="+mn-lt"/>
              </a:rPr>
              <a:t>INDUSTRY PROFILE</a:t>
            </a:r>
            <a:endParaRPr lang="en-IN" sz="4000" b="1" dirty="0">
              <a:latin typeface="+mn-lt"/>
            </a:endParaRPr>
          </a:p>
        </p:txBody>
      </p:sp>
      <p:sp>
        <p:nvSpPr>
          <p:cNvPr id="4" name="Content Placeholder 3"/>
          <p:cNvSpPr>
            <a:spLocks noGrp="1"/>
          </p:cNvSpPr>
          <p:nvPr>
            <p:ph sz="quarter" idx="14"/>
          </p:nvPr>
        </p:nvSpPr>
        <p:spPr>
          <a:xfrm>
            <a:off x="467544" y="2492896"/>
            <a:ext cx="7999800" cy="3888432"/>
          </a:xfrm>
        </p:spPr>
        <p:txBody>
          <a:bodyPr>
            <a:normAutofit/>
          </a:bodyPr>
          <a:lstStyle/>
          <a:p>
            <a:pPr marL="0" indent="0">
              <a:lnSpc>
                <a:spcPct val="150000"/>
              </a:lnSpc>
              <a:buNone/>
            </a:pPr>
            <a:r>
              <a:rPr lang="en-IN" sz="2000" cap="none" dirty="0" smtClean="0">
                <a:solidFill>
                  <a:schemeClr val="tx1"/>
                </a:solidFill>
                <a:cs typeface="Arial" pitchFamily="34" charset="0"/>
              </a:rPr>
              <a:t>Information technology (IT) is the application of computers to store, retrieve, transmit and manipulate data, often in the context of a business or other enterprise. IT is considered a subset of information and communications technology (ICT). </a:t>
            </a:r>
          </a:p>
          <a:p>
            <a:pPr marL="0" indent="0">
              <a:lnSpc>
                <a:spcPct val="150000"/>
              </a:lnSpc>
              <a:buNone/>
            </a:pPr>
            <a:r>
              <a:rPr lang="en-IN" sz="2000" cap="none" dirty="0" smtClean="0">
                <a:solidFill>
                  <a:schemeClr val="tx1"/>
                </a:solidFill>
                <a:cs typeface="Arial" pitchFamily="34" charset="0"/>
              </a:rPr>
              <a:t>The it industry is a fast-growing and dynamic sector that drives innovation and economic development. With increasing digital transformation, it continues to create opportunities for businesses and employment worldwide.</a:t>
            </a:r>
          </a:p>
          <a:p>
            <a:pPr marL="0" indent="0">
              <a:lnSpc>
                <a:spcPct val="150000"/>
              </a:lnSpc>
              <a:buNone/>
            </a:pPr>
            <a:endParaRPr lang="en-IN" sz="2000" dirty="0">
              <a:solidFill>
                <a:schemeClr val="tx1"/>
              </a:solidFill>
              <a:latin typeface="Arial" pitchFamily="34" charset="0"/>
              <a:cs typeface="Arial" pitchFamily="34" charset="0"/>
            </a:endParaRPr>
          </a:p>
          <a:p>
            <a:pPr marL="0" indent="0" algn="ctr">
              <a:lnSpc>
                <a:spcPct val="150000"/>
              </a:lnSpc>
              <a:buNone/>
            </a:pPr>
            <a:endParaRPr lang="en-IN" dirty="0"/>
          </a:p>
        </p:txBody>
      </p:sp>
    </p:spTree>
    <p:extLst>
      <p:ext uri="{BB962C8B-B14F-4D97-AF65-F5344CB8AC3E}">
        <p14:creationId xmlns:p14="http://schemas.microsoft.com/office/powerpoint/2010/main" val="201303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862" y="404664"/>
            <a:ext cx="7773338" cy="1596177"/>
          </a:xfrm>
        </p:spPr>
        <p:txBody>
          <a:bodyPr>
            <a:normAutofit/>
          </a:bodyPr>
          <a:lstStyle/>
          <a:p>
            <a:pPr algn="ctr"/>
            <a:r>
              <a:rPr lang="en-US" sz="4000" b="1" dirty="0" smtClean="0">
                <a:latin typeface="+mn-lt"/>
              </a:rPr>
              <a:t>COMPANY PROFILE </a:t>
            </a:r>
            <a:endParaRPr lang="en-IN" sz="4000" b="1" dirty="0">
              <a:latin typeface="+mn-lt"/>
            </a:endParaRPr>
          </a:p>
        </p:txBody>
      </p:sp>
      <p:pic>
        <p:nvPicPr>
          <p:cNvPr id="9" name="Content Placeholder 8"/>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51520" y="2420888"/>
            <a:ext cx="3744416" cy="2880320"/>
          </a:xfrm>
        </p:spPr>
      </p:pic>
      <p:sp>
        <p:nvSpPr>
          <p:cNvPr id="4" name="Content Placeholder 3"/>
          <p:cNvSpPr>
            <a:spLocks noGrp="1"/>
          </p:cNvSpPr>
          <p:nvPr>
            <p:ph sz="quarter" idx="14"/>
          </p:nvPr>
        </p:nvSpPr>
        <p:spPr>
          <a:xfrm>
            <a:off x="4211960" y="1745432"/>
            <a:ext cx="4470264" cy="5112568"/>
          </a:xfrm>
        </p:spPr>
        <p:txBody>
          <a:bodyPr>
            <a:noAutofit/>
          </a:bodyPr>
          <a:lstStyle/>
          <a:p>
            <a:pPr marL="0" indent="0">
              <a:buNone/>
            </a:pPr>
            <a:endParaRPr lang="en-IN" sz="1600" cap="none" dirty="0" smtClean="0">
              <a:solidFill>
                <a:schemeClr val="tx1"/>
              </a:solidFill>
              <a:latin typeface="Bahnschrift SemiBold SemiConden" panose="020B0502040204020203" pitchFamily="34" charset="0"/>
              <a:cs typeface="Arial" pitchFamily="34" charset="0"/>
            </a:endParaRPr>
          </a:p>
          <a:p>
            <a:pPr marL="0" indent="0">
              <a:lnSpc>
                <a:spcPct val="100000"/>
              </a:lnSpc>
              <a:buNone/>
            </a:pPr>
            <a:r>
              <a:rPr lang="en-IN" sz="1600" cap="none" dirty="0" smtClean="0">
                <a:solidFill>
                  <a:schemeClr val="tx1"/>
                </a:solidFill>
                <a:cs typeface="Arial" pitchFamily="34" charset="0"/>
              </a:rPr>
              <a:t>Mphasis ltd. Is an indian multinational information technology services and consulting company with its headquarters in bangalore. Its origins trace back to a merger in 2000 between mphasis corporation, an IT consulting company based in the U.S., And BFL software ltd., An indian IT firm.</a:t>
            </a:r>
          </a:p>
          <a:p>
            <a:pPr marL="0" indent="0">
              <a:lnSpc>
                <a:spcPct val="100000"/>
              </a:lnSpc>
              <a:buNone/>
            </a:pPr>
            <a:r>
              <a:rPr lang="en-IN" sz="1600" cap="none" dirty="0" smtClean="0">
                <a:solidFill>
                  <a:schemeClr val="tx1"/>
                </a:solidFill>
                <a:cs typeface="Arial" pitchFamily="34" charset="0"/>
              </a:rPr>
              <a:t>Initially, mphasis concentrated on providing it services to clients across various sectors, including banking, financial services, telecommunications, and logistics. A significant turning point occurred in 2006 when electronic data systems (EDS) acquired mphasis, facilitating an expansion of its global footprint. Just two years later, in 2008, EDS itself was acquired by hewlett-packard (HP).</a:t>
            </a:r>
          </a:p>
          <a:p>
            <a:pPr marL="0" indent="0">
              <a:buNone/>
            </a:pPr>
            <a:r>
              <a:rPr lang="en-IN" sz="1400" b="1" cap="none" dirty="0" smtClean="0">
                <a:solidFill>
                  <a:schemeClr val="tx1"/>
                </a:solidFill>
                <a:cs typeface="Arial" pitchFamily="34" charset="0"/>
              </a:rPr>
              <a:t> </a:t>
            </a:r>
            <a:endParaRPr lang="en-IN" sz="1400" cap="none" dirty="0" smtClean="0">
              <a:solidFill>
                <a:schemeClr val="tx1"/>
              </a:solidFill>
              <a:cs typeface="Arial" pitchFamily="34" charset="0"/>
            </a:endParaRPr>
          </a:p>
          <a:p>
            <a:pPr marL="0" indent="0">
              <a:buNone/>
            </a:pPr>
            <a:endParaRPr lang="en-IN" sz="1400" cap="none" dirty="0">
              <a:solidFill>
                <a:schemeClr val="tx1"/>
              </a:solidFill>
              <a:latin typeface="Bahnschrift SemiBold SemiConden" panose="020B0502040204020203" pitchFamily="34" charset="0"/>
              <a:cs typeface="Arial" pitchFamily="34" charset="0"/>
            </a:endParaRPr>
          </a:p>
        </p:txBody>
      </p:sp>
    </p:spTree>
    <p:extLst>
      <p:ext uri="{BB962C8B-B14F-4D97-AF65-F5344CB8AC3E}">
        <p14:creationId xmlns:p14="http://schemas.microsoft.com/office/powerpoint/2010/main" val="1708254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870" y="195435"/>
            <a:ext cx="7773338" cy="1596177"/>
          </a:xfrm>
        </p:spPr>
        <p:txBody>
          <a:bodyPr>
            <a:normAutofit/>
          </a:bodyPr>
          <a:lstStyle/>
          <a:p>
            <a:pPr algn="ctr"/>
            <a:r>
              <a:rPr lang="en-US" sz="4000" b="1" dirty="0" smtClean="0">
                <a:latin typeface="+mn-lt"/>
              </a:rPr>
              <a:t>PRODUCTS AND SERVICES </a:t>
            </a:r>
            <a:endParaRPr lang="en-IN" sz="4000" b="1" dirty="0">
              <a:latin typeface="+mn-lt"/>
            </a:endParaRPr>
          </a:p>
        </p:txBody>
      </p:sp>
      <p:sp>
        <p:nvSpPr>
          <p:cNvPr id="3" name="Text Placeholder 2"/>
          <p:cNvSpPr>
            <a:spLocks noGrp="1"/>
          </p:cNvSpPr>
          <p:nvPr>
            <p:ph type="body" idx="1"/>
          </p:nvPr>
        </p:nvSpPr>
        <p:spPr>
          <a:xfrm>
            <a:off x="764870" y="1530186"/>
            <a:ext cx="3822192" cy="648072"/>
          </a:xfrm>
        </p:spPr>
        <p:txBody>
          <a:bodyPr/>
          <a:lstStyle/>
          <a:p>
            <a:r>
              <a:rPr lang="en-US" sz="2000" u="sng" dirty="0" smtClean="0"/>
              <a:t>PRODUCTS</a:t>
            </a:r>
            <a:r>
              <a:rPr lang="en-US" sz="2000" dirty="0" smtClean="0"/>
              <a:t> </a:t>
            </a:r>
            <a:endParaRPr lang="en-IN" sz="2000" dirty="0"/>
          </a:p>
        </p:txBody>
      </p:sp>
      <p:sp>
        <p:nvSpPr>
          <p:cNvPr id="4" name="Content Placeholder 3"/>
          <p:cNvSpPr>
            <a:spLocks noGrp="1"/>
          </p:cNvSpPr>
          <p:nvPr>
            <p:ph sz="half" idx="2"/>
          </p:nvPr>
        </p:nvSpPr>
        <p:spPr>
          <a:xfrm>
            <a:off x="179512" y="2492896"/>
            <a:ext cx="4317875" cy="3633267"/>
          </a:xfrm>
        </p:spPr>
        <p:txBody>
          <a:bodyPr>
            <a:noAutofit/>
          </a:bodyPr>
          <a:lstStyle/>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Cloud solutions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Artificial intelligence and machine learning platforms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Data analytics tools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Cybersecurity solutions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Automation and </a:t>
            </a:r>
            <a:r>
              <a:rPr lang="en-IN" sz="1600" cap="none" dirty="0" err="1" smtClean="0">
                <a:solidFill>
                  <a:schemeClr val="tx1"/>
                </a:solidFill>
                <a:ea typeface="Arial Unicode MS" pitchFamily="34" charset="-128"/>
                <a:cs typeface="Arial Unicode MS" pitchFamily="34" charset="-128"/>
              </a:rPr>
              <a:t>devops</a:t>
            </a:r>
            <a:r>
              <a:rPr lang="en-IN" sz="1600" cap="none" dirty="0" smtClean="0">
                <a:solidFill>
                  <a:schemeClr val="tx1"/>
                </a:solidFill>
                <a:ea typeface="Arial Unicode MS" pitchFamily="34" charset="-128"/>
                <a:cs typeface="Arial Unicode MS" pitchFamily="34" charset="-128"/>
              </a:rPr>
              <a:t> platforms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Core banking and insurance platforms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Enterprise applications and custom software </a:t>
            </a:r>
          </a:p>
          <a:p>
            <a:pPr>
              <a:buClr>
                <a:schemeClr val="tx1"/>
              </a:buClr>
              <a:buFont typeface="Arial" pitchFamily="34" charset="0"/>
              <a:buChar char="•"/>
            </a:pPr>
            <a:endParaRPr lang="en-IN" sz="1800" cap="none" dirty="0">
              <a:solidFill>
                <a:schemeClr val="tx1"/>
              </a:solidFill>
            </a:endParaRPr>
          </a:p>
        </p:txBody>
      </p:sp>
      <p:sp>
        <p:nvSpPr>
          <p:cNvPr id="5" name="Text Placeholder 4"/>
          <p:cNvSpPr>
            <a:spLocks noGrp="1"/>
          </p:cNvSpPr>
          <p:nvPr>
            <p:ph type="body" sz="quarter" idx="3"/>
          </p:nvPr>
        </p:nvSpPr>
        <p:spPr>
          <a:xfrm>
            <a:off x="4776129" y="1538496"/>
            <a:ext cx="3822192" cy="639762"/>
          </a:xfrm>
        </p:spPr>
        <p:txBody>
          <a:bodyPr>
            <a:normAutofit/>
          </a:bodyPr>
          <a:lstStyle/>
          <a:p>
            <a:r>
              <a:rPr lang="en-US" sz="2000" u="sng" dirty="0" smtClean="0"/>
              <a:t>SERVICEDS</a:t>
            </a:r>
            <a:r>
              <a:rPr lang="en-US" sz="2000" dirty="0" smtClean="0"/>
              <a:t> </a:t>
            </a:r>
            <a:endParaRPr lang="en-IN" sz="2000" dirty="0"/>
          </a:p>
        </p:txBody>
      </p:sp>
      <p:sp>
        <p:nvSpPr>
          <p:cNvPr id="6" name="Content Placeholder 5"/>
          <p:cNvSpPr>
            <a:spLocks noGrp="1"/>
          </p:cNvSpPr>
          <p:nvPr>
            <p:ph sz="quarter" idx="4"/>
          </p:nvPr>
        </p:nvSpPr>
        <p:spPr>
          <a:xfrm>
            <a:off x="3779912" y="2492896"/>
            <a:ext cx="4686288" cy="3672408"/>
          </a:xfrm>
        </p:spPr>
        <p:txBody>
          <a:bodyPr>
            <a:noAutofit/>
          </a:bodyPr>
          <a:lstStyle/>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Application development and maintenance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IT infrastructure management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Business process outsourcing (BPO)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Cloud migration and modernization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Data management and analytics services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Consulting and digital transformation </a:t>
            </a:r>
          </a:p>
          <a:p>
            <a:pPr lvl="2" fontAlgn="base">
              <a:lnSpc>
                <a:spcPct val="150000"/>
              </a:lnSpc>
              <a:buClr>
                <a:schemeClr val="tx1"/>
              </a:buClr>
              <a:buFont typeface="Arial" pitchFamily="34" charset="0"/>
              <a:buChar char="•"/>
            </a:pPr>
            <a:r>
              <a:rPr lang="en-IN" sz="1600" cap="none" dirty="0" smtClean="0">
                <a:solidFill>
                  <a:schemeClr val="tx1"/>
                </a:solidFill>
                <a:ea typeface="Arial Unicode MS" pitchFamily="34" charset="-128"/>
                <a:cs typeface="Arial Unicode MS" pitchFamily="34" charset="-128"/>
              </a:rPr>
              <a:t>Customer experience management </a:t>
            </a:r>
          </a:p>
          <a:p>
            <a:pPr>
              <a:buClr>
                <a:schemeClr val="tx1"/>
              </a:buClr>
              <a:buFont typeface="Arial" pitchFamily="34" charset="0"/>
              <a:buChar char="•"/>
            </a:pPr>
            <a:endParaRPr lang="en-IN" sz="1800" cap="none" dirty="0">
              <a:solidFill>
                <a:schemeClr val="tx1"/>
              </a:solidFill>
              <a:ea typeface="Arial Unicode MS" pitchFamily="34" charset="-128"/>
              <a:cs typeface="Arial Unicode MS" pitchFamily="34" charset="-128"/>
            </a:endParaRPr>
          </a:p>
        </p:txBody>
      </p:sp>
    </p:spTree>
    <p:extLst>
      <p:ext uri="{BB962C8B-B14F-4D97-AF65-F5344CB8AC3E}">
        <p14:creationId xmlns:p14="http://schemas.microsoft.com/office/powerpoint/2010/main" val="1047802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quarter" idx="13"/>
          </p:nvPr>
        </p:nvPicPr>
        <p:blipFill rotWithShape="1">
          <a:blip r:embed="rId2" cstate="print">
            <a:extLst>
              <a:ext uri="{28A0092B-C50C-407E-A947-70E740481C1C}">
                <a14:useLocalDpi xmlns:a14="http://schemas.microsoft.com/office/drawing/2010/main" val="0"/>
              </a:ext>
            </a:extLst>
          </a:blip>
          <a:srcRect l="1306" t="1744" r="1017" b="12891"/>
          <a:stretch/>
        </p:blipFill>
        <p:spPr>
          <a:xfrm>
            <a:off x="323528" y="476672"/>
            <a:ext cx="8424936" cy="6048672"/>
          </a:xfrm>
        </p:spPr>
      </p:pic>
    </p:spTree>
    <p:extLst>
      <p:ext uri="{BB962C8B-B14F-4D97-AF65-F5344CB8AC3E}">
        <p14:creationId xmlns:p14="http://schemas.microsoft.com/office/powerpoint/2010/main" val="626357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smtClean="0">
                <a:latin typeface="+mn-lt"/>
              </a:rPr>
              <a:t>METHODOLOGY</a:t>
            </a:r>
            <a:r>
              <a:rPr lang="en-US" dirty="0" smtClean="0">
                <a:latin typeface="+mn-lt"/>
              </a:rPr>
              <a:t> </a:t>
            </a:r>
            <a:endParaRPr lang="en-US" dirty="0">
              <a:latin typeface="+mn-lt"/>
            </a:endParaRPr>
          </a:p>
        </p:txBody>
      </p:sp>
      <p:sp>
        <p:nvSpPr>
          <p:cNvPr id="4" name="Content Placeholder 3"/>
          <p:cNvSpPr>
            <a:spLocks noGrp="1"/>
          </p:cNvSpPr>
          <p:nvPr>
            <p:ph sz="quarter" idx="14"/>
          </p:nvPr>
        </p:nvSpPr>
        <p:spPr>
          <a:xfrm>
            <a:off x="395536" y="2367093"/>
            <a:ext cx="8062664" cy="3424107"/>
          </a:xfrm>
        </p:spPr>
        <p:txBody>
          <a:bodyPr>
            <a:normAutofit/>
          </a:bodyPr>
          <a:lstStyle/>
          <a:p>
            <a:pPr algn="just"/>
            <a:r>
              <a:rPr lang="en-IN" sz="2000" cap="none" dirty="0" smtClean="0"/>
              <a:t>The study is based on primary data &amp; secondary data.   </a:t>
            </a:r>
          </a:p>
          <a:p>
            <a:pPr algn="just"/>
            <a:r>
              <a:rPr lang="en-IN" sz="2000" cap="none" dirty="0" smtClean="0"/>
              <a:t>Data is collected from annual reports of mphasis company limited. </a:t>
            </a:r>
          </a:p>
          <a:p>
            <a:pPr algn="just"/>
            <a:r>
              <a:rPr lang="en-IN" sz="2000" cap="none" dirty="0" smtClean="0"/>
              <a:t> Financial statements such as balance sheet and profit &amp; loss account are used for analysis. </a:t>
            </a:r>
          </a:p>
          <a:p>
            <a:pPr algn="just"/>
            <a:r>
              <a:rPr lang="en-IN" sz="2000" cap="none" dirty="0" smtClean="0"/>
              <a:t> Ratio analysis method is used to evaluate financial performance. </a:t>
            </a:r>
          </a:p>
          <a:p>
            <a:endParaRPr lang="en-US" sz="2000" cap="none" dirty="0"/>
          </a:p>
        </p:txBody>
      </p:sp>
    </p:spTree>
    <p:extLst>
      <p:ext uri="{BB962C8B-B14F-4D97-AF65-F5344CB8AC3E}">
        <p14:creationId xmlns:p14="http://schemas.microsoft.com/office/powerpoint/2010/main" val="1463553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0649"/>
            <a:ext cx="7886700" cy="1224136"/>
          </a:xfrm>
        </p:spPr>
        <p:txBody>
          <a:bodyPr>
            <a:normAutofit/>
          </a:bodyPr>
          <a:lstStyle/>
          <a:p>
            <a:pPr algn="ctr"/>
            <a:r>
              <a:rPr lang="en-US" sz="4000" b="1" dirty="0" smtClean="0">
                <a:latin typeface="+mn-lt"/>
              </a:rPr>
              <a:t>RATIO ANALYSIS </a:t>
            </a:r>
            <a:endParaRPr lang="en-US" sz="4000" b="1" dirty="0">
              <a:latin typeface="+mn-lt"/>
            </a:endParaRPr>
          </a:p>
        </p:txBody>
      </p:sp>
      <p:sp>
        <p:nvSpPr>
          <p:cNvPr id="3" name="Content Placeholder 2"/>
          <p:cNvSpPr>
            <a:spLocks noGrp="1"/>
          </p:cNvSpPr>
          <p:nvPr>
            <p:ph idx="1"/>
          </p:nvPr>
        </p:nvSpPr>
        <p:spPr>
          <a:xfrm>
            <a:off x="683568" y="1268760"/>
            <a:ext cx="7886700" cy="5328592"/>
          </a:xfrm>
        </p:spPr>
        <p:txBody>
          <a:bodyPr>
            <a:normAutofit fontScale="77500" lnSpcReduction="20000"/>
          </a:bodyPr>
          <a:lstStyle/>
          <a:p>
            <a:pPr marL="0" indent="0">
              <a:buNone/>
            </a:pPr>
            <a:r>
              <a:rPr lang="en-GB" sz="1800" dirty="0" smtClean="0"/>
              <a:t>MEANING :</a:t>
            </a:r>
          </a:p>
          <a:p>
            <a:pPr marL="0" indent="0">
              <a:buNone/>
            </a:pPr>
            <a:r>
              <a:rPr lang="en-GB" sz="1900" cap="none" dirty="0" smtClean="0"/>
              <a:t>Ratio analysis is a technique used to evaluate the financial performance of a company by analyzing relationships between various financial figures in its financial statements (like the balance sheet, income statement, and cash flow statement).</a:t>
            </a:r>
          </a:p>
          <a:p>
            <a:pPr marL="0" indent="0">
              <a:buNone/>
            </a:pPr>
            <a:r>
              <a:rPr lang="en-US" sz="2100" dirty="0" smtClean="0"/>
              <a:t>TYPES </a:t>
            </a:r>
            <a:r>
              <a:rPr lang="en-US" sz="2100" dirty="0" smtClean="0"/>
              <a:t>OF RATIOS :</a:t>
            </a:r>
          </a:p>
          <a:p>
            <a:pPr marL="0" indent="0">
              <a:buNone/>
            </a:pPr>
            <a:r>
              <a:rPr lang="en-IN" sz="1800" dirty="0" smtClean="0"/>
              <a:t>1.Liquidity Ratio</a:t>
            </a:r>
          </a:p>
          <a:p>
            <a:r>
              <a:rPr lang="en-IN" sz="1800" dirty="0" smtClean="0"/>
              <a:t> </a:t>
            </a:r>
            <a:r>
              <a:rPr lang="en-IN" sz="2100" cap="none" dirty="0" smtClean="0"/>
              <a:t>Current Ratio =  Current Ratio / Current Laibilites  </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GB" sz="1600" dirty="0" smtClean="0"/>
          </a:p>
          <a:p>
            <a:pPr marL="0" indent="0">
              <a:buNone/>
            </a:pPr>
            <a:r>
              <a:rPr lang="en-GB" sz="1900" cap="none" dirty="0" smtClean="0"/>
              <a:t>The current ratio shows an increasing trend over the five years, indicating that mphasis limited maintained a strong liquidity position and was capable of meeting its short-term obligations efficiently</a:t>
            </a:r>
            <a:r>
              <a:rPr lang="en-GB" dirty="0" smtClean="0"/>
              <a:t>.</a:t>
            </a:r>
            <a:endParaRPr lang="en-US" dirty="0"/>
          </a:p>
        </p:txBody>
      </p:sp>
      <p:graphicFrame>
        <p:nvGraphicFramePr>
          <p:cNvPr id="4" name="Chart 3">
            <a:extLst>
              <a:ext uri="{FF2B5EF4-FFF2-40B4-BE49-F238E27FC236}">
                <a16:creationId xmlns:a16="http://schemas.microsoft.com/office/drawing/2014/main" id="{2AF6DAAB-31CF-F4F5-F797-A039F6278E88}"/>
              </a:ext>
            </a:extLst>
          </p:cNvPr>
          <p:cNvGraphicFramePr>
            <a:graphicFrameLocks/>
          </p:cNvGraphicFramePr>
          <p:nvPr>
            <p:extLst>
              <p:ext uri="{D42A27DB-BD31-4B8C-83A1-F6EECF244321}">
                <p14:modId xmlns:p14="http://schemas.microsoft.com/office/powerpoint/2010/main" val="560392518"/>
              </p:ext>
            </p:extLst>
          </p:nvPr>
        </p:nvGraphicFramePr>
        <p:xfrm>
          <a:off x="2123728" y="3573016"/>
          <a:ext cx="4511998" cy="18215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8200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0"/>
            <a:ext cx="7886700" cy="6840760"/>
          </a:xfrm>
        </p:spPr>
        <p:txBody>
          <a:bodyPr>
            <a:normAutofit fontScale="62500" lnSpcReduction="20000"/>
          </a:bodyPr>
          <a:lstStyle/>
          <a:p>
            <a:pPr marL="0" indent="0">
              <a:buNone/>
            </a:pPr>
            <a:r>
              <a:rPr lang="en-IN" sz="2300" dirty="0" smtClean="0"/>
              <a:t>2. Profitability Ratio </a:t>
            </a:r>
            <a:r>
              <a:rPr lang="en-IN" sz="1700" dirty="0" smtClean="0"/>
              <a:t> </a:t>
            </a:r>
          </a:p>
          <a:p>
            <a:r>
              <a:rPr lang="en-IN" sz="1600" dirty="0" smtClean="0"/>
              <a:t> </a:t>
            </a:r>
            <a:r>
              <a:rPr lang="en-IN" sz="2300" cap="none" dirty="0" smtClean="0"/>
              <a:t>Net Profit Ratio = </a:t>
            </a:r>
            <a:r>
              <a:rPr lang="en-US" sz="2300" cap="none" dirty="0" smtClean="0"/>
              <a:t>Profit For The Year </a:t>
            </a:r>
            <a:r>
              <a:rPr lang="en-IN" sz="2300" cap="none" dirty="0" smtClean="0"/>
              <a:t>/ Net Sales X 100</a:t>
            </a:r>
            <a:endParaRPr lang="en-IN" dirty="0" smtClean="0"/>
          </a:p>
          <a:p>
            <a:pPr marL="0" indent="0">
              <a:buNone/>
            </a:pPr>
            <a:endParaRPr lang="en-US" sz="1600" dirty="0" smtClean="0"/>
          </a:p>
          <a:p>
            <a:pPr marL="0" indent="0">
              <a:buNone/>
            </a:pPr>
            <a:endParaRPr lang="en-US" sz="1600" dirty="0"/>
          </a:p>
          <a:p>
            <a:pPr marL="0" indent="0">
              <a:buNone/>
            </a:pPr>
            <a:endParaRPr lang="en-US" sz="1600" dirty="0" smtClean="0"/>
          </a:p>
          <a:p>
            <a:pPr marL="0" indent="0">
              <a:buNone/>
            </a:pPr>
            <a:endParaRPr lang="en-US" sz="1600" dirty="0"/>
          </a:p>
          <a:p>
            <a:pPr marL="0" indent="0">
              <a:buNone/>
            </a:pPr>
            <a:endParaRPr lang="en-US" sz="1600" dirty="0" smtClean="0"/>
          </a:p>
          <a:p>
            <a:pPr marL="0" indent="0">
              <a:buNone/>
            </a:pPr>
            <a:endParaRPr lang="en-US" sz="1600" dirty="0"/>
          </a:p>
          <a:p>
            <a:pPr marL="0" indent="0">
              <a:buNone/>
            </a:pPr>
            <a:endParaRPr lang="en-GB" sz="1600" dirty="0" smtClean="0"/>
          </a:p>
          <a:p>
            <a:pPr marL="0" indent="0">
              <a:buNone/>
            </a:pPr>
            <a:r>
              <a:rPr lang="en-GB" sz="2200" cap="none" dirty="0" smtClean="0"/>
              <a:t>The net profit ratio of mphasis limited shows a decreasing trend over the years, indicating a reduction in the company’s profitability. This may be due to increased operating expenses, higher costs, or changes in revenue growth during the study period.</a:t>
            </a:r>
          </a:p>
          <a:p>
            <a:r>
              <a:rPr lang="en-US" sz="2300" cap="none" dirty="0" smtClean="0"/>
              <a:t>Eanings Per Share =Net Profit /No. Of Equity Shares </a:t>
            </a:r>
          </a:p>
          <a:p>
            <a:endParaRPr lang="en-US" sz="1600" dirty="0" smtClean="0"/>
          </a:p>
          <a:p>
            <a:endParaRPr lang="en-US" sz="1600" dirty="0" smtClean="0"/>
          </a:p>
          <a:p>
            <a:pPr marL="0" indent="0">
              <a:buNone/>
            </a:pPr>
            <a:endParaRPr lang="en-US" sz="1600" dirty="0" smtClean="0"/>
          </a:p>
          <a:p>
            <a:pPr marL="0" indent="0">
              <a:buNone/>
            </a:pPr>
            <a:endParaRPr lang="en-US" sz="1600" dirty="0"/>
          </a:p>
          <a:p>
            <a:pPr marL="0" indent="0">
              <a:buNone/>
            </a:pPr>
            <a:endParaRPr lang="en-US" sz="1600" dirty="0" smtClean="0"/>
          </a:p>
          <a:p>
            <a:pPr marL="0" indent="0">
              <a:buNone/>
            </a:pPr>
            <a:endParaRPr lang="en-US" sz="1600" dirty="0"/>
          </a:p>
          <a:p>
            <a:pPr marL="0" indent="0">
              <a:buNone/>
            </a:pPr>
            <a:endParaRPr lang="en-GB" sz="1600" dirty="0" smtClean="0"/>
          </a:p>
          <a:p>
            <a:pPr marL="0" indent="0">
              <a:buNone/>
            </a:pPr>
            <a:endParaRPr lang="en-GB" sz="1600" dirty="0" smtClean="0"/>
          </a:p>
          <a:p>
            <a:pPr marL="0" indent="0">
              <a:buNone/>
            </a:pPr>
            <a:r>
              <a:rPr lang="en-GB" sz="2200" cap="none" dirty="0" smtClean="0"/>
              <a:t>The earnings per share (EPS) of mphasis limited shows an increasing trend, indicating higher profitability and better returns to shareholders. It reflects the company’s strong financial performance during the study period.</a:t>
            </a:r>
          </a:p>
          <a:p>
            <a:pPr marL="0" indent="0">
              <a:buNone/>
            </a:pPr>
            <a:endParaRPr lang="en-US" sz="2600" cap="none" dirty="0" smtClean="0"/>
          </a:p>
        </p:txBody>
      </p:sp>
      <p:graphicFrame>
        <p:nvGraphicFramePr>
          <p:cNvPr id="7" name="Chart 6">
            <a:extLst>
              <a:ext uri="{FF2B5EF4-FFF2-40B4-BE49-F238E27FC236}">
                <a16:creationId xmlns:a16="http://schemas.microsoft.com/office/drawing/2014/main" id="{DDBD3422-2014-2CA4-59EF-C64DD7FCC01B}"/>
              </a:ext>
            </a:extLst>
          </p:cNvPr>
          <p:cNvGraphicFramePr>
            <a:graphicFrameLocks/>
          </p:cNvGraphicFramePr>
          <p:nvPr>
            <p:extLst>
              <p:ext uri="{D42A27DB-BD31-4B8C-83A1-F6EECF244321}">
                <p14:modId xmlns:p14="http://schemas.microsoft.com/office/powerpoint/2010/main" val="3420986571"/>
              </p:ext>
            </p:extLst>
          </p:nvPr>
        </p:nvGraphicFramePr>
        <p:xfrm>
          <a:off x="1979712" y="764704"/>
          <a:ext cx="4608512" cy="187220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3326846648"/>
              </p:ext>
            </p:extLst>
          </p:nvPr>
        </p:nvGraphicFramePr>
        <p:xfrm>
          <a:off x="2123728" y="3861048"/>
          <a:ext cx="4320480" cy="20162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4257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8640"/>
            <a:ext cx="7886700" cy="6336704"/>
          </a:xfrm>
        </p:spPr>
        <p:txBody>
          <a:bodyPr>
            <a:normAutofit fontScale="70000" lnSpcReduction="20000"/>
          </a:bodyPr>
          <a:lstStyle/>
          <a:p>
            <a:pPr marL="0" indent="0">
              <a:buNone/>
            </a:pPr>
            <a:r>
              <a:rPr lang="en-IN" sz="2100" dirty="0" smtClean="0"/>
              <a:t>3. Solvency / Leverage Ratio </a:t>
            </a:r>
          </a:p>
          <a:p>
            <a:r>
              <a:rPr lang="en-IN" sz="2100" cap="none" dirty="0" smtClean="0"/>
              <a:t> Debt Equity Ratio = Total Debt / Shareholders Funds</a:t>
            </a:r>
          </a:p>
          <a:p>
            <a:endParaRPr lang="en-IN" sz="1600" dirty="0"/>
          </a:p>
          <a:p>
            <a:endParaRPr lang="en-IN" sz="1600" dirty="0" smtClean="0"/>
          </a:p>
          <a:p>
            <a:endParaRPr lang="en-IN" sz="1600" dirty="0"/>
          </a:p>
          <a:p>
            <a:endParaRPr lang="en-IN" sz="1600" dirty="0" smtClean="0"/>
          </a:p>
          <a:p>
            <a:endParaRPr lang="en-IN" sz="1600" dirty="0"/>
          </a:p>
          <a:p>
            <a:endParaRPr lang="en-IN" sz="1600" dirty="0" smtClean="0"/>
          </a:p>
          <a:p>
            <a:pPr marL="0" indent="0">
              <a:buNone/>
            </a:pPr>
            <a:r>
              <a:rPr lang="en-GB" cap="none" dirty="0" smtClean="0"/>
              <a:t>The debt–equity ratio of mphasis limited shows a decreasing trend over the years, indicating lower dependence on external borrowings and a strong financial position. </a:t>
            </a:r>
            <a:r>
              <a:rPr lang="en-IN" cap="none" dirty="0" smtClean="0"/>
              <a:t> </a:t>
            </a:r>
            <a:endParaRPr lang="en-IN" dirty="0" smtClean="0"/>
          </a:p>
          <a:p>
            <a:r>
              <a:rPr lang="en-IN" sz="2100" cap="none" dirty="0" smtClean="0"/>
              <a:t>Proprietary Ratio = Shareholders Funds / Total Assets </a:t>
            </a:r>
          </a:p>
          <a:p>
            <a:endParaRPr lang="en-IN" sz="1600" cap="none" dirty="0" smtClean="0"/>
          </a:p>
          <a:p>
            <a:endParaRPr lang="en-IN" sz="1600" cap="none" dirty="0" smtClean="0"/>
          </a:p>
          <a:p>
            <a:endParaRPr lang="en-IN" sz="1600" dirty="0"/>
          </a:p>
          <a:p>
            <a:endParaRPr lang="en-IN" sz="1600" dirty="0" smtClean="0"/>
          </a:p>
          <a:p>
            <a:endParaRPr lang="en-IN" sz="1600" dirty="0"/>
          </a:p>
          <a:p>
            <a:endParaRPr lang="en-IN" sz="1600" dirty="0" smtClean="0"/>
          </a:p>
          <a:p>
            <a:pPr marL="0" indent="0">
              <a:buNone/>
            </a:pPr>
            <a:endParaRPr lang="en-GB" sz="1600" dirty="0" smtClean="0"/>
          </a:p>
          <a:p>
            <a:pPr marL="0" indent="0">
              <a:buNone/>
            </a:pPr>
            <a:r>
              <a:rPr lang="en-GB" cap="none" dirty="0" smtClean="0"/>
              <a:t>The proprietary ratio of mphasis limited shows a decreasing trend over the years, indicating lower contribution of shareholders’ funds towards total assets and increased dependence on external liabilities during the study period.</a:t>
            </a:r>
            <a:endParaRPr lang="en-IN" cap="none" dirty="0" smtClean="0"/>
          </a:p>
          <a:p>
            <a:endParaRPr lang="en-US" sz="1600" dirty="0" smtClean="0"/>
          </a:p>
          <a:p>
            <a:pPr marL="0" indent="0">
              <a:buNone/>
            </a:pPr>
            <a:endParaRPr lang="en-US" sz="1600" dirty="0"/>
          </a:p>
        </p:txBody>
      </p:sp>
      <p:graphicFrame>
        <p:nvGraphicFramePr>
          <p:cNvPr id="5" name="Chart 4">
            <a:extLst>
              <a:ext uri="{FF2B5EF4-FFF2-40B4-BE49-F238E27FC236}">
                <a16:creationId xmlns:a16="http://schemas.microsoft.com/office/drawing/2014/main" id="{DC1371E5-DA41-0570-C92B-031D11585C07}"/>
              </a:ext>
            </a:extLst>
          </p:cNvPr>
          <p:cNvGraphicFramePr>
            <a:graphicFrameLocks/>
          </p:cNvGraphicFramePr>
          <p:nvPr>
            <p:extLst>
              <p:ext uri="{D42A27DB-BD31-4B8C-83A1-F6EECF244321}">
                <p14:modId xmlns:p14="http://schemas.microsoft.com/office/powerpoint/2010/main" val="3351151164"/>
              </p:ext>
            </p:extLst>
          </p:nvPr>
        </p:nvGraphicFramePr>
        <p:xfrm>
          <a:off x="2093794" y="836712"/>
          <a:ext cx="4608512" cy="180020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912FCBD5-F8EB-25C9-DB88-98869921F2F8}"/>
              </a:ext>
            </a:extLst>
          </p:cNvPr>
          <p:cNvGraphicFramePr>
            <a:graphicFrameLocks/>
          </p:cNvGraphicFramePr>
          <p:nvPr>
            <p:extLst>
              <p:ext uri="{D42A27DB-BD31-4B8C-83A1-F6EECF244321}">
                <p14:modId xmlns:p14="http://schemas.microsoft.com/office/powerpoint/2010/main" val="2402070245"/>
              </p:ext>
            </p:extLst>
          </p:nvPr>
        </p:nvGraphicFramePr>
        <p:xfrm>
          <a:off x="2077800" y="3717032"/>
          <a:ext cx="4624506" cy="19082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0938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012" y="332657"/>
            <a:ext cx="7773338" cy="1080120"/>
          </a:xfrm>
        </p:spPr>
        <p:txBody>
          <a:bodyPr>
            <a:normAutofit/>
          </a:bodyPr>
          <a:lstStyle/>
          <a:p>
            <a:pPr algn="ctr"/>
            <a:r>
              <a:rPr lang="en-US" sz="4000" b="1" dirty="0" smtClean="0">
                <a:latin typeface="+mn-lt"/>
              </a:rPr>
              <a:t>FINDINGS</a:t>
            </a:r>
            <a:r>
              <a:rPr lang="en-US" sz="4000" b="1" dirty="0" smtClean="0"/>
              <a:t> </a:t>
            </a:r>
            <a:endParaRPr lang="en-US" sz="4000" b="1" dirty="0"/>
          </a:p>
        </p:txBody>
      </p:sp>
      <p:sp>
        <p:nvSpPr>
          <p:cNvPr id="3" name="Content Placeholder 2"/>
          <p:cNvSpPr>
            <a:spLocks noGrp="1"/>
          </p:cNvSpPr>
          <p:nvPr>
            <p:ph idx="1"/>
          </p:nvPr>
        </p:nvSpPr>
        <p:spPr>
          <a:xfrm>
            <a:off x="628650" y="1412776"/>
            <a:ext cx="7886700" cy="4764187"/>
          </a:xfrm>
        </p:spPr>
        <p:txBody>
          <a:bodyPr>
            <a:normAutofit fontScale="25000" lnSpcReduction="20000"/>
          </a:bodyPr>
          <a:lstStyle/>
          <a:p>
            <a:pPr marL="0" indent="0">
              <a:buNone/>
            </a:pPr>
            <a:r>
              <a:rPr lang="en-US" sz="6400" dirty="0" smtClean="0"/>
              <a:t>Liquidity &amp; Solvency</a:t>
            </a:r>
          </a:p>
          <a:p>
            <a:r>
              <a:rPr lang="en-GB" sz="6400" cap="none" dirty="0" smtClean="0"/>
              <a:t>Strong liquidity: high current ratio ensures good short-term solvency.</a:t>
            </a:r>
          </a:p>
          <a:p>
            <a:r>
              <a:rPr lang="en-GB" sz="6400" cap="none" dirty="0" smtClean="0"/>
              <a:t> Cash constraints: low cash ratio indicates limited immediate cash availability.</a:t>
            </a:r>
          </a:p>
          <a:p>
            <a:r>
              <a:rPr lang="en-GB" sz="6400" cap="none" dirty="0" smtClean="0"/>
              <a:t>Low risk: declining debt-to-equity and debt-to-asset ratios show low debt dependence.</a:t>
            </a:r>
          </a:p>
          <a:p>
            <a:r>
              <a:rPr lang="en-GB" sz="6400" cap="none" dirty="0" smtClean="0"/>
              <a:t>Strong ownership: a robust proprietary ratio proves assets are mainly owner-financed.</a:t>
            </a:r>
          </a:p>
          <a:p>
            <a:r>
              <a:rPr lang="en-GB" sz="6400" cap="none" dirty="0" smtClean="0"/>
              <a:t>.Fluctuating capital: working capital remains positive but experiences volatility.</a:t>
            </a:r>
          </a:p>
          <a:p>
            <a:pPr marL="0" indent="0">
              <a:buNone/>
            </a:pPr>
            <a:endParaRPr lang="en-GB" sz="6400" dirty="0" smtClean="0"/>
          </a:p>
          <a:p>
            <a:pPr marL="0" indent="0">
              <a:buNone/>
            </a:pPr>
            <a:r>
              <a:rPr lang="en-GB" sz="6400" dirty="0" smtClean="0"/>
              <a:t>Efficiency &amp; Profitability</a:t>
            </a:r>
          </a:p>
          <a:p>
            <a:r>
              <a:rPr lang="en-GB" sz="6400" cap="none" dirty="0" smtClean="0"/>
              <a:t>Moderate efficiency: asset turnover shows average utilization efficiency.</a:t>
            </a:r>
          </a:p>
          <a:p>
            <a:r>
              <a:rPr lang="en-GB" sz="6400" cap="none" dirty="0" smtClean="0"/>
              <a:t>Declining profitability: net profit, operating profit, and </a:t>
            </a:r>
            <a:r>
              <a:rPr lang="en-GB" sz="6400" cap="none" dirty="0" err="1" smtClean="0"/>
              <a:t>ros</a:t>
            </a:r>
            <a:r>
              <a:rPr lang="en-GB" sz="6400" cap="none" dirty="0" smtClean="0"/>
              <a:t> show downward trends</a:t>
            </a:r>
          </a:p>
          <a:p>
            <a:r>
              <a:rPr lang="en-GB" sz="6400" cap="none" dirty="0" smtClean="0"/>
              <a:t>Inconsistent operations: PBT margin displays operational inconsistency.</a:t>
            </a:r>
          </a:p>
          <a:p>
            <a:r>
              <a:rPr lang="en-GB" sz="6400" cap="none" dirty="0" smtClean="0"/>
              <a:t>Lower returns: decreasing </a:t>
            </a:r>
            <a:r>
              <a:rPr lang="en-GB" sz="6400" cap="none" dirty="0" err="1" smtClean="0"/>
              <a:t>ronw</a:t>
            </a:r>
            <a:r>
              <a:rPr lang="en-GB" sz="6400" cap="none" dirty="0" smtClean="0"/>
              <a:t> and equity returns reduce investor value</a:t>
            </a:r>
          </a:p>
          <a:p>
            <a:r>
              <a:rPr lang="en-GB" sz="6400" cap="none" dirty="0" smtClean="0"/>
              <a:t>Stable ROI/ROA: return on investment and assets remain stable with slight variations.</a:t>
            </a:r>
          </a:p>
          <a:p>
            <a:endParaRPr lang="en-GB" sz="2900" cap="none" dirty="0"/>
          </a:p>
        </p:txBody>
      </p:sp>
    </p:spTree>
    <p:extLst>
      <p:ext uri="{BB962C8B-B14F-4D97-AF65-F5344CB8AC3E}">
        <p14:creationId xmlns:p14="http://schemas.microsoft.com/office/powerpoint/2010/main" val="4088280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88641"/>
            <a:ext cx="7773338" cy="1296144"/>
          </a:xfrm>
        </p:spPr>
        <p:txBody>
          <a:bodyPr>
            <a:normAutofit/>
          </a:bodyPr>
          <a:lstStyle/>
          <a:p>
            <a:pPr algn="ctr"/>
            <a:r>
              <a:rPr lang="en-US" sz="4000" b="1" dirty="0" smtClean="0">
                <a:latin typeface="+mn-lt"/>
              </a:rPr>
              <a:t>SUGGESTIONS </a:t>
            </a:r>
            <a:endParaRPr lang="en-US" sz="4000" b="1" dirty="0">
              <a:latin typeface="+mn-lt"/>
            </a:endParaRPr>
          </a:p>
        </p:txBody>
      </p:sp>
      <p:sp>
        <p:nvSpPr>
          <p:cNvPr id="3" name="Content Placeholder 2"/>
          <p:cNvSpPr>
            <a:spLocks noGrp="1"/>
          </p:cNvSpPr>
          <p:nvPr>
            <p:ph idx="1"/>
          </p:nvPr>
        </p:nvSpPr>
        <p:spPr>
          <a:xfrm>
            <a:off x="628650" y="1556792"/>
            <a:ext cx="7886700" cy="4896544"/>
          </a:xfrm>
        </p:spPr>
        <p:txBody>
          <a:bodyPr>
            <a:noAutofit/>
          </a:bodyPr>
          <a:lstStyle/>
          <a:p>
            <a:pPr>
              <a:lnSpc>
                <a:spcPct val="120000"/>
              </a:lnSpc>
            </a:pPr>
            <a:r>
              <a:rPr lang="en-GB" sz="1600" cap="none" dirty="0" smtClean="0"/>
              <a:t>The company should focus on profitability by optimizing operating and administrative expenses.</a:t>
            </a:r>
          </a:p>
          <a:p>
            <a:pPr>
              <a:lnSpc>
                <a:spcPct val="120000"/>
              </a:lnSpc>
            </a:pPr>
            <a:r>
              <a:rPr lang="en-GB" sz="1600" cap="none" dirty="0" smtClean="0"/>
              <a:t>The accounts receivable collection efficiency must be improved to strengthen cash flow and liquidity.</a:t>
            </a:r>
          </a:p>
          <a:p>
            <a:pPr>
              <a:lnSpc>
                <a:spcPct val="120000"/>
              </a:lnSpc>
            </a:pPr>
            <a:r>
              <a:rPr lang="en-GB" sz="1600" cap="none" dirty="0" smtClean="0"/>
              <a:t>The capital structure should remain balanced by strategically optimizing the mix of debt and equity.</a:t>
            </a:r>
          </a:p>
          <a:p>
            <a:pPr>
              <a:lnSpc>
                <a:spcPct val="120000"/>
              </a:lnSpc>
            </a:pPr>
            <a:r>
              <a:rPr lang="en-GB" sz="1600" cap="none" dirty="0" smtClean="0"/>
              <a:t>The return on shareholders' funds can be increased through more aggressive profit generation.</a:t>
            </a:r>
          </a:p>
          <a:p>
            <a:pPr>
              <a:lnSpc>
                <a:spcPct val="120000"/>
              </a:lnSpc>
            </a:pPr>
            <a:r>
              <a:rPr lang="en-GB" sz="1600" cap="none" dirty="0" smtClean="0"/>
              <a:t>The investment in high-growth digital areas like cloud and </a:t>
            </a:r>
            <a:r>
              <a:rPr lang="en-GB" sz="1600" cap="none" dirty="0" err="1" smtClean="0"/>
              <a:t>ai</a:t>
            </a:r>
            <a:r>
              <a:rPr lang="en-GB" sz="1600" cap="none" dirty="0" smtClean="0"/>
              <a:t> must expand to drive future revenue.</a:t>
            </a:r>
          </a:p>
          <a:p>
            <a:pPr>
              <a:lnSpc>
                <a:spcPct val="120000"/>
              </a:lnSpc>
            </a:pPr>
            <a:r>
              <a:rPr lang="en-GB" sz="1600" cap="none" dirty="0" smtClean="0"/>
              <a:t>The market trends and competitor strategies require continuous monitoring to maintain a competitive edge.</a:t>
            </a:r>
          </a:p>
          <a:p>
            <a:pPr>
              <a:lnSpc>
                <a:spcPct val="120000"/>
              </a:lnSpc>
            </a:pPr>
            <a:r>
              <a:rPr lang="en-GB" sz="1600" cap="none" dirty="0" smtClean="0"/>
              <a:t>The long-term sustainable growth of mphasis ltd. Relies on maximizing asset and resource utilization efficiency.</a:t>
            </a:r>
            <a:endParaRPr lang="en-US" sz="1600" cap="none" dirty="0"/>
          </a:p>
        </p:txBody>
      </p:sp>
    </p:spTree>
    <p:extLst>
      <p:ext uri="{BB962C8B-B14F-4D97-AF65-F5344CB8AC3E}">
        <p14:creationId xmlns:p14="http://schemas.microsoft.com/office/powerpoint/2010/main" val="874651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latin typeface="+mn-lt"/>
              </a:rPr>
              <a:t>CONCLUSION</a:t>
            </a:r>
            <a:r>
              <a:rPr lang="en-US" sz="4000" b="1" dirty="0" smtClean="0"/>
              <a:t> </a:t>
            </a:r>
            <a:endParaRPr lang="en-US" sz="4000" b="1" dirty="0"/>
          </a:p>
        </p:txBody>
      </p:sp>
      <p:sp>
        <p:nvSpPr>
          <p:cNvPr id="3" name="Content Placeholder 2"/>
          <p:cNvSpPr>
            <a:spLocks noGrp="1"/>
          </p:cNvSpPr>
          <p:nvPr>
            <p:ph idx="1"/>
          </p:nvPr>
        </p:nvSpPr>
        <p:spPr>
          <a:xfrm>
            <a:off x="539552" y="1772816"/>
            <a:ext cx="7975798" cy="4404147"/>
          </a:xfrm>
        </p:spPr>
        <p:txBody>
          <a:bodyPr>
            <a:normAutofit/>
          </a:bodyPr>
          <a:lstStyle/>
          <a:p>
            <a:pPr marL="0" indent="0">
              <a:buNone/>
            </a:pPr>
            <a:r>
              <a:rPr lang="en-GB" sz="1800" cap="none" dirty="0" smtClean="0"/>
              <a:t>Based on the overall ratio analysis, mphasis ltd. Is financially stable, backed by strong liquidity and minimal debt dependency. However, a declining trend in profitability highlights an immediate need to enhance operational efficiency and enforce stricter cost controls on operating expenses.</a:t>
            </a:r>
          </a:p>
          <a:p>
            <a:pPr marL="0" indent="0">
              <a:buNone/>
            </a:pPr>
            <a:r>
              <a:rPr lang="en-GB" sz="1800" cap="none" dirty="0" smtClean="0"/>
              <a:t>To sustain smooth operations, the company must prioritize cash flow management by accelerating accounts receivable collections and optimizing working capital. Ultimately, focusing on profitability, resource efficiency, and strategic cost reduction will enable mphasis ltd. To achieve sustainable long-term growth and a stronger financial position.</a:t>
            </a:r>
            <a:endParaRPr lang="en-US" sz="1800" dirty="0"/>
          </a:p>
        </p:txBody>
      </p:sp>
    </p:spTree>
    <p:extLst>
      <p:ext uri="{BB962C8B-B14F-4D97-AF65-F5344CB8AC3E}">
        <p14:creationId xmlns:p14="http://schemas.microsoft.com/office/powerpoint/2010/main" val="311614903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223</TotalTime>
  <Words>979</Words>
  <Application>Microsoft Office PowerPoint</Application>
  <PresentationFormat>On-screen Show (4:3)</PresentationFormat>
  <Paragraphs>130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Unicode MS</vt:lpstr>
      <vt:lpstr>Bahnschrift SemiBold SemiConden</vt:lpstr>
      <vt:lpstr>Tw Cen MT</vt:lpstr>
      <vt:lpstr>Droplet</vt:lpstr>
      <vt:lpstr>FINANCIAL RATIO ANALYSIS OF MPHASIS COMPANY LTD </vt:lpstr>
      <vt:lpstr>INDUSTRY PROFILE</vt:lpstr>
      <vt:lpstr>COMPANY PROFILE </vt:lpstr>
      <vt:lpstr>PRODUCTS AND SERVICES </vt:lpstr>
      <vt:lpstr>PowerPoint Presentation</vt:lpstr>
      <vt:lpstr>METHODOLOGY </vt:lpstr>
      <vt:lpstr>RATIO ANALYSIS </vt:lpstr>
      <vt:lpstr>PowerPoint Presentation</vt:lpstr>
      <vt:lpstr>PowerPoint Presentation</vt:lpstr>
      <vt:lpstr>FINDINGS </vt:lpstr>
      <vt:lpstr>SUGGESTIONS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RATIO ANALYSIS OF MPHASIS COMPANY LTD</dc:title>
  <dc:creator>ASUS</dc:creator>
  <cp:lastModifiedBy>Admin</cp:lastModifiedBy>
  <cp:revision>21</cp:revision>
  <dcterms:created xsi:type="dcterms:W3CDTF">2026-05-23T07:16:37Z</dcterms:created>
  <dcterms:modified xsi:type="dcterms:W3CDTF">2026-05-25T16:58:32Z</dcterms:modified>
</cp:coreProperties>
</file>